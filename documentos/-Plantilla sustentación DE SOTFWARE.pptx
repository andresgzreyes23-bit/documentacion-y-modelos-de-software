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</p:sldIdLst>
  <p:sldSz cx="9144000" cy="5143500" type="screen16x9"/>
  <p:notesSz cx="6858000" cy="9144000"/>
  <p:defaultTextStyle>
    <a:defPPr lvl="0">
      <a:defRPr lang="es-E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582E3-7222-4B67-A45E-E8D945364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483C26-B9CA-4A76-8235-0571B7C3B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CCF2A-A61F-468A-9580-6845E12E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68A331-0592-4519-84A0-82385C37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C6548-B4DA-4619-A56B-72B1C134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2800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1A600-8B3C-46B4-AD57-30C71488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48B9F3-74B1-412B-84F5-50E2B1529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7ACCC6-51A8-4F2A-8105-C2166F9B2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0B91EF-B73B-4A4B-A22E-A0323480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8F659E-FEC2-4196-9596-A741DB2E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769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11347-FFA2-4DD6-A1B3-1F7CF1238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0FD96F-E12C-4D89-9C84-4AD517664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DFC8BA-6802-482A-964B-5E18D9DC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F8627F-C084-422F-A8F0-7A79F5167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05B6E6-482B-4B35-A77C-89974E68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498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BF2F8-5273-408E-8EF0-E8E7C04C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D0351F-DD47-438A-9139-0F2528680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8599BD-87A2-465D-88CA-46BF26066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505BF8-CA7D-42F7-98D9-EB8EDB55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8225B7-B8EE-45BF-A276-02648C36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1E780D-C173-4838-97CC-32622DC3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8820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D3054-7BC8-43D8-8EE6-F29B85206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E056FE-18FD-4114-B1E5-2A782AFDC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6B4470-F055-44E6-9C55-6282E43EA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B76DC3-02EB-4C1C-9479-A929ECBC9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5BE317-9324-450D-9F4C-CD58065A9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EB6D26-90F6-4436-BB10-1671BDAD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CFB09A-CC55-45C3-A1FE-B77FA84A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152A8E1-8396-4926-8785-FAAE696B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103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84C1B-D3F9-4220-AD80-E48221A0A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16DE69A-0966-4293-A1CC-A3DBE36A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CCA150-8FA5-4A0A-A694-9F27630C2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B95D398-7938-4ED3-A846-BFDDA9CC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78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BD8AAD-4A08-43DD-97A8-A03D7562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AF4164-29F9-4485-8DA5-5E84AE85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D0F2A7-CA71-4FA1-9C21-66657B83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9822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12118-0C82-4458-AB2F-28313622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DBF386-4E2B-4C5A-A13C-90AD78A3B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2622F5-B9E6-4DB3-8163-B6BD76233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A1BACC-A196-42F0-9313-6848AEF5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A59C21-8C41-4F10-8017-57EF4C88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CAEAB2-2C0D-4E80-8F29-90C6B7EB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621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9CBC3-F257-43A9-A878-E057A516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E399035-0354-4CC8-B123-B715FA6C5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92AE8C-6FBD-4585-B338-A8500AB9C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4DAE3-8040-4661-BD8C-2A33E63D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73615C-6DBD-45CA-A9B2-D9E4D1AD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DC32A9-B1C0-44BD-9602-75745813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496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1B93D-4FB4-4088-848B-EAF39D1A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EC9557-D9F5-413D-86AA-8CE021F9A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2D3B6D-E13A-4C5C-81F1-F8BE220C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B870BE-698B-47BB-A14E-7F749032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C05162-63CD-432C-8FCC-43E42632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9746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DD365A-0AC2-4B35-88C1-1B6E689A2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FEA16C-34BD-4964-81B0-180F0F1C1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C230DB-5A91-4BEA-B2C7-B5E624FC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657ED6-A3DA-4332-BCEC-D509F86C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B7E367-093C-4A9E-97AD-6042875B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7957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922659-E3F3-4294-8CCE-5BC88CC9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DD6E97-4F70-4C17-950D-815C1FA3B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2989CC-BF1C-4215-B0FE-F84873E72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77017-C832-47F0-B980-30111D86B873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7D877C-3C69-453F-94EF-3D66F655D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0C9A4B-63E3-4BF9-A7EA-CA3F18C79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D2633-8CB9-4EA7-AC5F-AAAF8860C9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160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AC60EB6-9BC7-4978-9736-D762449F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411" y="2114984"/>
            <a:ext cx="7595177" cy="1469879"/>
          </a:xfrm>
        </p:spPr>
        <p:txBody>
          <a:bodyPr>
            <a:normAutofit/>
          </a:bodyPr>
          <a:lstStyle/>
          <a:p>
            <a:pPr algn="ctr"/>
            <a:r>
              <a:rPr lang="es-CO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SUSTENTACIÓN ARTÍCULO DE REVISIÓN 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00CC8FC7-B73E-4896-A62E-D4FB4FED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410" y="3759850"/>
            <a:ext cx="7595177" cy="398172"/>
          </a:xfrm>
        </p:spPr>
        <p:txBody>
          <a:bodyPr>
            <a:normAutofit lnSpcReduction="10000"/>
          </a:bodyPr>
          <a:lstStyle/>
          <a:p>
            <a:pPr algn="ctr"/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Asignatura: Producción y análisis de textos</a:t>
            </a:r>
          </a:p>
        </p:txBody>
      </p:sp>
    </p:spTree>
    <p:extLst>
      <p:ext uri="{BB962C8B-B14F-4D97-AF65-F5344CB8AC3E}">
        <p14:creationId xmlns:p14="http://schemas.microsoft.com/office/powerpoint/2010/main" val="1445889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2A77A4F0-4485-486E-A03E-BAF7CCD2A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84" y="793667"/>
            <a:ext cx="8098632" cy="646331"/>
          </a:xfrm>
          <a:prstGeom prst="rect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PODER DEL ARTE EN LA CONSTRUCCIÓN DE SOLUCIONES SOCIALES Y PERSONALES</a:t>
            </a:r>
            <a:endParaRPr lang="es-419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6 CuadroTexto">
            <a:extLst>
              <a:ext uri="{FF2B5EF4-FFF2-40B4-BE49-F238E27FC236}">
                <a16:creationId xmlns:a16="http://schemas.microsoft.com/office/drawing/2014/main" id="{4CC7F24E-D1BD-4AD3-B94B-95F659BC8F1B}"/>
              </a:ext>
            </a:extLst>
          </p:cNvPr>
          <p:cNvSpPr txBox="1"/>
          <p:nvPr/>
        </p:nvSpPr>
        <p:spPr>
          <a:xfrm>
            <a:off x="810716" y="2082555"/>
            <a:ext cx="75225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1600" b="1" dirty="0">
              <a:cs typeface="Arial" panose="020B0604020202020204" pitchFamily="34" charset="0"/>
            </a:endParaRPr>
          </a:p>
          <a:p>
            <a:pPr algn="ctr"/>
            <a:r>
              <a:rPr lang="es-C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Estudiantes:</a:t>
            </a:r>
          </a:p>
          <a:p>
            <a:pPr algn="ctr"/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Bianca Lisbeth Lagos Ramírez</a:t>
            </a:r>
          </a:p>
          <a:p>
            <a:pPr algn="ctr"/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Andrés Felipe Gutiérrez Reyes  </a:t>
            </a:r>
            <a:endParaRPr lang="es-E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CO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C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Programas:</a:t>
            </a:r>
          </a:p>
          <a:p>
            <a:pPr algn="ctr"/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Diseño Grafico</a:t>
            </a:r>
          </a:p>
          <a:p>
            <a:pPr algn="ctr"/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Ingeniería de Software</a:t>
            </a:r>
          </a:p>
          <a:p>
            <a:pPr algn="ctr"/>
            <a:endParaRPr lang="es-CO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C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 José de Cúcuta, 25-NOVIEMBRE-2025</a:t>
            </a:r>
          </a:p>
        </p:txBody>
      </p:sp>
    </p:spTree>
    <p:extLst>
      <p:ext uri="{BB962C8B-B14F-4D97-AF65-F5344CB8AC3E}">
        <p14:creationId xmlns:p14="http://schemas.microsoft.com/office/powerpoint/2010/main" val="1710332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Rectángulo redondeado">
            <a:extLst>
              <a:ext uri="{FF2B5EF4-FFF2-40B4-BE49-F238E27FC236}">
                <a16:creationId xmlns:a16="http://schemas.microsoft.com/office/drawing/2014/main" id="{71532148-DE38-4408-8D61-C917DDCDFD0B}"/>
              </a:ext>
            </a:extLst>
          </p:cNvPr>
          <p:cNvSpPr/>
          <p:nvPr/>
        </p:nvSpPr>
        <p:spPr>
          <a:xfrm>
            <a:off x="466839" y="1184734"/>
            <a:ext cx="8210322" cy="3081867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36839B9-6180-4E2F-B5DF-7B9E526A6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39" y="288031"/>
            <a:ext cx="2736304" cy="461665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2400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0A475F-8448-33E3-426A-FF472AC9D5EC}"/>
              </a:ext>
            </a:extLst>
          </p:cNvPr>
          <p:cNvSpPr txBox="1"/>
          <p:nvPr/>
        </p:nvSpPr>
        <p:spPr>
          <a:xfrm>
            <a:off x="844391" y="2611936"/>
            <a:ext cx="772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diseño impulsa reflexión, participación y transformación en las comunidades.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Autores como Adorno, Bourdieu y Peralta Fajardo analizan su impacto crítico y social.</a:t>
            </a:r>
          </a:p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BCBABC-6216-4B80-C415-4F444CB35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91" y="1024027"/>
            <a:ext cx="1981200" cy="1981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8E38E69-F1B6-9BC4-1E54-29083A0EB244}"/>
              </a:ext>
            </a:extLst>
          </p:cNvPr>
          <p:cNvSpPr txBox="1"/>
          <p:nvPr/>
        </p:nvSpPr>
        <p:spPr>
          <a:xfrm>
            <a:off x="2825591" y="2069899"/>
            <a:ext cx="5389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arte es una herramienta que permite crear soluciones sociales y culturales (Lagos &amp; Gutiérrez, 2025).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4160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4C46C40-E9B3-437C-B210-13637E1FE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450253"/>
            <a:ext cx="3824630" cy="461665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2400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RESUMEN </a:t>
            </a:r>
            <a:endParaRPr lang="es-CO" sz="2400" b="1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A9452A-64DE-BD62-8FFD-7CEA40B58B1D}"/>
              </a:ext>
            </a:extLst>
          </p:cNvPr>
          <p:cNvSpPr txBox="1"/>
          <p:nvPr/>
        </p:nvSpPr>
        <p:spPr>
          <a:xfrm>
            <a:off x="923691" y="1800488"/>
            <a:ext cx="7296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diseño no solo comunica, también despierta conciencia social y cuestiona la realidad. </a:t>
            </a:r>
          </a:p>
        </p:txBody>
      </p:sp>
      <p:sp>
        <p:nvSpPr>
          <p:cNvPr id="3" name="4 Rectángulo redondeado">
            <a:extLst>
              <a:ext uri="{FF2B5EF4-FFF2-40B4-BE49-F238E27FC236}">
                <a16:creationId xmlns:a16="http://schemas.microsoft.com/office/drawing/2014/main" id="{F4AD35CE-CDAB-1DC2-BE42-967C306860F2}"/>
              </a:ext>
            </a:extLst>
          </p:cNvPr>
          <p:cNvSpPr/>
          <p:nvPr/>
        </p:nvSpPr>
        <p:spPr>
          <a:xfrm>
            <a:off x="437341" y="1229889"/>
            <a:ext cx="8210322" cy="3081867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06F99AFF-66D1-6650-9DC9-F8548D909E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537" b="-2850"/>
          <a:stretch>
            <a:fillRect/>
          </a:stretch>
        </p:blipFill>
        <p:spPr>
          <a:xfrm>
            <a:off x="437341" y="2446819"/>
            <a:ext cx="2430037" cy="246602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8219593-048E-52C6-8187-1ADC1D803754}"/>
              </a:ext>
            </a:extLst>
          </p:cNvPr>
          <p:cNvSpPr txBox="1"/>
          <p:nvPr/>
        </p:nvSpPr>
        <p:spPr>
          <a:xfrm>
            <a:off x="2919176" y="2396308"/>
            <a:ext cx="52493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arte favorece la participación y el diálogo en las comunidades.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TIC refuerzan la comunicación y permiten que más personas se involucren en los procesos sociales.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8699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236839B9-6180-4E2F-B5DF-7B9E526A6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39" y="308128"/>
            <a:ext cx="2736304" cy="461665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2400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4 Rectángulo redondeado">
            <a:extLst>
              <a:ext uri="{FF2B5EF4-FFF2-40B4-BE49-F238E27FC236}">
                <a16:creationId xmlns:a16="http://schemas.microsoft.com/office/drawing/2014/main" id="{922ED39D-5D3C-DE13-4EE0-9DECA8FAC293}"/>
              </a:ext>
            </a:extLst>
          </p:cNvPr>
          <p:cNvSpPr/>
          <p:nvPr/>
        </p:nvSpPr>
        <p:spPr>
          <a:xfrm>
            <a:off x="437341" y="1229889"/>
            <a:ext cx="8210322" cy="3081867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DA0F16-E673-BFFF-9F9C-3C9F58C2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65333" y="1565807"/>
            <a:ext cx="2118624" cy="30818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F944F58-873C-E023-87BB-E6B2843D36F7}"/>
              </a:ext>
            </a:extLst>
          </p:cNvPr>
          <p:cNvSpPr txBox="1"/>
          <p:nvPr/>
        </p:nvSpPr>
        <p:spPr>
          <a:xfrm>
            <a:off x="760043" y="1848226"/>
            <a:ext cx="56670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realizó una revisión bibliográfica cualitativa del 10 al 26 de septiembre de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consultó Google Académico y fuentes confiables de diseño, arte y cambio social.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seleccionaron autores clave: Adorno, Bourdieu, Mercado, Benjamín y Peralta Fajardo.</a:t>
            </a:r>
          </a:p>
        </p:txBody>
      </p:sp>
    </p:spTree>
    <p:extLst>
      <p:ext uri="{BB962C8B-B14F-4D97-AF65-F5344CB8AC3E}">
        <p14:creationId xmlns:p14="http://schemas.microsoft.com/office/powerpoint/2010/main" val="163173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CEABC-4763-79EA-F968-034CD689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219A2703-F2FB-AF14-C490-02728A040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38" y="308128"/>
            <a:ext cx="3044005" cy="461665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2400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 TEÓRICO</a:t>
            </a:r>
          </a:p>
        </p:txBody>
      </p:sp>
      <p:sp>
        <p:nvSpPr>
          <p:cNvPr id="2" name="4 Rectángulo redondeado">
            <a:extLst>
              <a:ext uri="{FF2B5EF4-FFF2-40B4-BE49-F238E27FC236}">
                <a16:creationId xmlns:a16="http://schemas.microsoft.com/office/drawing/2014/main" id="{B8DC75FE-9A24-3C0B-1FA5-7919294161D3}"/>
              </a:ext>
            </a:extLst>
          </p:cNvPr>
          <p:cNvSpPr/>
          <p:nvPr/>
        </p:nvSpPr>
        <p:spPr>
          <a:xfrm>
            <a:off x="437341" y="1015999"/>
            <a:ext cx="8210322" cy="3385542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CBBD4C6-351A-F227-88AD-6E7FDA76F0D3}"/>
              </a:ext>
            </a:extLst>
          </p:cNvPr>
          <p:cNvSpPr txBox="1"/>
          <p:nvPr/>
        </p:nvSpPr>
        <p:spPr>
          <a:xfrm>
            <a:off x="848635" y="1139102"/>
            <a:ext cx="594924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Participación del usuario:</a:t>
            </a:r>
            <a:b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tecnologías hacen que el usuario sea activo en el diseño (Mercado, 2014).</a:t>
            </a:r>
          </a:p>
          <a:p>
            <a:endParaRPr lang="es-E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Diseño crítico:</a:t>
            </a:r>
            <a:b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diseño puede cuestionar lo establecido (Adorno, 1944).</a:t>
            </a:r>
          </a:p>
          <a:p>
            <a:endParaRPr lang="es-E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Diseño como campo cultural:</a:t>
            </a:r>
            <a:b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diseño está influido por poder y capital simbólico (Bourdieu, 1997; 2002).</a:t>
            </a:r>
          </a:p>
          <a:p>
            <a:endParaRPr lang="es-E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Creación visual y cambio:</a:t>
            </a:r>
            <a:b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arte puede transformar prácticas sociales (Mercado, 2014).</a:t>
            </a:r>
          </a:p>
          <a:p>
            <a:endParaRPr lang="es-E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TIC y colaboración:</a:t>
            </a:r>
            <a:b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TIC permiten nuevas formas de participación (Cataño &amp; Gómez, 2014).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B078E4-DE50-48D0-92D6-3D123194B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287" y="2000384"/>
            <a:ext cx="2647363" cy="264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35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D9FA2-047C-2DF9-B4C9-445FBDC9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90ECF3E1-7E00-E2EF-208A-74F51AFEB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39" y="308128"/>
            <a:ext cx="2736304" cy="461665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2400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F33A601-0115-10A0-04B4-B7D0098A6ACB}"/>
              </a:ext>
            </a:extLst>
          </p:cNvPr>
          <p:cNvSpPr txBox="1"/>
          <p:nvPr/>
        </p:nvSpPr>
        <p:spPr>
          <a:xfrm>
            <a:off x="2575704" y="1242777"/>
            <a:ext cx="5983505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diseño funciona como herramienta social y política (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Rancière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1992).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cartel y la gráfica permiten denuncia y reflexión en la sociedad (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Margolin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1998).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reproducción técnica permite que el público participe activamente (Benjamín, 1936).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diseño se desarrolla dentro de disputas simbólicas y jerárquicas (Bourdieu, 2002).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nuevas tecnologías impulsan la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co-creación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la interacción (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Woodhouse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2004).</a:t>
            </a:r>
          </a:p>
          <a:p>
            <a:endParaRPr lang="es-ES" dirty="0"/>
          </a:p>
        </p:txBody>
      </p:sp>
      <p:sp>
        <p:nvSpPr>
          <p:cNvPr id="5" name="4 Rectángulo redondeado">
            <a:extLst>
              <a:ext uri="{FF2B5EF4-FFF2-40B4-BE49-F238E27FC236}">
                <a16:creationId xmlns:a16="http://schemas.microsoft.com/office/drawing/2014/main" id="{5C190A8D-F8A1-4821-8BD5-4CD868FD9DD4}"/>
              </a:ext>
            </a:extLst>
          </p:cNvPr>
          <p:cNvSpPr/>
          <p:nvPr/>
        </p:nvSpPr>
        <p:spPr>
          <a:xfrm>
            <a:off x="466839" y="1105787"/>
            <a:ext cx="8210322" cy="3218858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D716BC-B0C6-4D1A-AEA9-F78EB02D9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91" y="2173115"/>
            <a:ext cx="2151529" cy="215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36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4C46C40-E9B3-437C-B210-13637E1FE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450253"/>
            <a:ext cx="3824630" cy="461665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2400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CONCLUSIÓN</a:t>
            </a:r>
            <a:endParaRPr lang="es-CO" sz="2400" b="1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4 Rectángulo redondeado">
            <a:extLst>
              <a:ext uri="{FF2B5EF4-FFF2-40B4-BE49-F238E27FC236}">
                <a16:creationId xmlns:a16="http://schemas.microsoft.com/office/drawing/2014/main" id="{188AAF0D-6C79-4B3C-9E6F-AF11EBC87FD5}"/>
              </a:ext>
            </a:extLst>
          </p:cNvPr>
          <p:cNvSpPr/>
          <p:nvPr/>
        </p:nvSpPr>
        <p:spPr>
          <a:xfrm>
            <a:off x="395536" y="1196752"/>
            <a:ext cx="8208912" cy="3168352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s-E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399546D-10EB-78C2-C81B-8DA1F98BD616}"/>
              </a:ext>
            </a:extLst>
          </p:cNvPr>
          <p:cNvSpPr txBox="1"/>
          <p:nvPr/>
        </p:nvSpPr>
        <p:spPr>
          <a:xfrm>
            <a:off x="857956" y="1432977"/>
            <a:ext cx="742808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diseño integra dimensiones sociales, culturales y políticas.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Tiene capacidad de transformar realidades y crear participación.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diseñador debe asumir un rol ético y consciente en la sociedad, más allá de lo visual.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0F329B-5A74-4C82-8FFC-392EB8CE3C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755" b="33229"/>
          <a:stretch/>
        </p:blipFill>
        <p:spPr>
          <a:xfrm>
            <a:off x="3403625" y="2331564"/>
            <a:ext cx="2336750" cy="203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1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4C46C40-E9B3-437C-B210-13637E1FE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1" y="450253"/>
            <a:ext cx="6569171" cy="461665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2400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REFERENCIAS BIBLIOGRÁFICAS</a:t>
            </a:r>
            <a:endParaRPr lang="es-CO" sz="2400" b="1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4 Rectángulo redondeado">
            <a:extLst>
              <a:ext uri="{FF2B5EF4-FFF2-40B4-BE49-F238E27FC236}">
                <a16:creationId xmlns:a16="http://schemas.microsoft.com/office/drawing/2014/main" id="{188AAF0D-6C79-4B3C-9E6F-AF11EBC87FD5}"/>
              </a:ext>
            </a:extLst>
          </p:cNvPr>
          <p:cNvSpPr/>
          <p:nvPr/>
        </p:nvSpPr>
        <p:spPr>
          <a:xfrm>
            <a:off x="395536" y="1196752"/>
            <a:ext cx="8208912" cy="3168352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1" rtlCol="0" anchor="ctr"/>
          <a:lstStyle/>
          <a:p>
            <a:pPr lvl="0">
              <a:lnSpc>
                <a:spcPct val="200000"/>
              </a:lnSpc>
            </a:pPr>
            <a:endParaRPr lang="es-CO" sz="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s-ES" dirty="0"/>
          </a:p>
          <a:p>
            <a:pPr algn="just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57E500-A9BA-4DD1-919A-0AF2E35A6FC5}"/>
              </a:ext>
            </a:extLst>
          </p:cNvPr>
          <p:cNvSpPr txBox="1"/>
          <p:nvPr/>
        </p:nvSpPr>
        <p:spPr>
          <a:xfrm>
            <a:off x="733647" y="1509823"/>
            <a:ext cx="767670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Adorno, T. (1944). 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cultura de masas.</a:t>
            </a:r>
            <a:b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Benjamín, W. (1936).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obra de arte en la era de su reproductibilidad técnica.</a:t>
            </a:r>
            <a:b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Bourdieu, P. (1997; 2002). 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Campo de poder y campo intelectual.</a:t>
            </a:r>
            <a:b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Margolin</a:t>
            </a:r>
            <a:r>
              <a:rPr lang="es-MX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(1998). </a:t>
            </a:r>
            <a:r>
              <a:rPr lang="es-MX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Graphic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Change.</a:t>
            </a:r>
            <a:b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Rancière</a:t>
            </a:r>
            <a:r>
              <a:rPr lang="es-MX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(1992). </a:t>
            </a:r>
            <a:r>
              <a:rPr lang="es-MX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Politics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MX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Subjectivization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Mercado, G. (2014). 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Participación del usuario en diseño y medios.</a:t>
            </a:r>
            <a:b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Cataño &amp; Gómez (2014). 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 y nuevas formas de trabajo.</a:t>
            </a:r>
            <a:b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Peralta Fajardo, P. (2025). </a:t>
            </a:r>
            <a:r>
              <a:rPr lang="es-MX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Arte y soluciones sociales</a:t>
            </a:r>
            <a:r>
              <a:rPr lang="es-MX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MX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87985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A984D18-9A98-4D4D-B50D-AD804FC1D814}"/>
              </a:ext>
            </a:extLst>
          </p:cNvPr>
          <p:cNvSpPr txBox="1"/>
          <p:nvPr/>
        </p:nvSpPr>
        <p:spPr>
          <a:xfrm>
            <a:off x="1354735" y="2916153"/>
            <a:ext cx="6647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Gracias por su atención </a:t>
            </a:r>
            <a:endParaRPr lang="es-CO" sz="4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C443C0-4797-46BA-9FA8-39011652AA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30" b="37777"/>
          <a:stretch/>
        </p:blipFill>
        <p:spPr>
          <a:xfrm>
            <a:off x="2827753" y="350874"/>
            <a:ext cx="3701144" cy="289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654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528</Words>
  <Application>Microsoft Office PowerPoint</Application>
  <PresentationFormat>Presentación en pantalla (16:9)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Tema de Office</vt:lpstr>
      <vt:lpstr>SUSTENTACIÓN ARTÍCULO DE REVISIÓN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SUSTENTACIÓN ARTÍCULO DE REFLEXIÓN</dc:title>
  <dc:creator>Aula A104</dc:creator>
  <cp:lastModifiedBy>Laura Niño</cp:lastModifiedBy>
  <cp:revision>10</cp:revision>
  <dcterms:modified xsi:type="dcterms:W3CDTF">2025-11-25T01:01:36Z</dcterms:modified>
</cp:coreProperties>
</file>